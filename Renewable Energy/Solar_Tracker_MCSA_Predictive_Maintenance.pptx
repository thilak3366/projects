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560320" cy="2560320"/>
          </a:xfrm>
          <a:prstGeom prst="ellipse">
            <a:avLst/>
          </a:prstGeom>
          <a:solidFill>
            <a:srgbClr val="2C4A63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 •  PREDICTIVE MAINTENANCE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of Solar Trackers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Motor Current Signature Analysis (MCSA)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Acquisition  →  Signal Processing  →  Feature Extraction  →  Fault Detection  →  Maintenance Alert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17373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Findings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146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Background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5146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Discussion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Objectives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32918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2918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Reflection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406908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6908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Methodology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29400" y="406908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2C4A63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06908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Conclusion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6675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plants increasingly rely on single/dual-axis trackers to boost energy yield.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motors and gear mechanisms are naturally prone to wear-related faults.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motor faults reduce tracking accuracy, power output, and increase maintenance cost.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Motor Current Signature Analysis (MCSA) — a non-invasive technique — to detect tracker motor faults early.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73736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18120" y="26334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&amp; Predictive Maintenance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18120" y="3154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34107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Current Signature Analysis (MCSA)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18120" y="3931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18120" y="41879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Single/Dual-Axis Solar Tracker Motors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18120" y="4709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18120" y="4965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FFT, DWT, Statistical Feature Extraction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deployment of solar PV plants has made trackers essential for maximizing energy generation — but motor and gear failures threaten that gain.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6289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28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24231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trackers operate continuously under varying environmental conditions.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0" y="2331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7920" y="26289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628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20840" y="24231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wear gradually affects motor performance over time.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37719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771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35661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motor failures reduce plant availability and revenue.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35040" y="3474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920" y="37719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3771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20840" y="35661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 enables non-invasive fault monitoring using existing current signals.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4617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49149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914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" y="47091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fault detection reduces downtime and maintenance costs.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035040" y="461772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/>
        </p:spPr>
      </p:sp>
      <p:sp>
        <p:nvSpPr>
          <p:cNvPr id="29" name="Shape 26"/>
          <p:cNvSpPr/>
          <p:nvPr/>
        </p:nvSpPr>
        <p:spPr>
          <a:xfrm>
            <a:off x="6217920" y="49149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0" y="4914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20840" y="47091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improves overall system reliability and energy yield.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obj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00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predictive maintenance system for solar tracker motors using Motor Current Signature Analysis (MCSA) for early fault detection and maintenance scheduling.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laboratory-scale solar tracker monitoring system.</a:t>
            </a:r>
            <a:endParaRPr lang="en-US" sz="15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motor current using a Hall-effect current sensor.</a:t>
            </a:r>
            <a:endParaRPr lang="en-US" sz="15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Motor Current Signature Analysis on the acquired data.</a:t>
            </a:r>
            <a:endParaRPr lang="en-US" sz="15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diagnostic features from current signals (FFT / DWT / statistical).</a:t>
            </a:r>
            <a:endParaRPr lang="en-US" sz="15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motor operating conditions.</a:t>
            </a:r>
            <a:endParaRPr lang="en-US" sz="15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maintenance alerts before failure occurs.</a:t>
            </a:r>
            <a:endParaRPr lang="en-US" sz="15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▸"/>
            </a:pPr>
            <a:r>
              <a:rPr lang="en-US" sz="15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tracker reliability while minimizing maintenance cost.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&amp;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motor current signatures accurately identify faults in solar tracker motors?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signal processing technique (FFT, DWT, Statistical Features) gives better fault detection performance?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early-stage mechanical faults be detected before complete motor failure occurs?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can predictive maintenance improve tracker system reliability?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18288" cy="4663440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studies focus on PV panel-level faults; tracker motor health monitoring gets limited attention.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predictive maintenance mostly uses vibration/temperature sensors — higher cost, more complex installation.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 application to solar tracker motor fault diagnosis is still limited in literature.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studies offer a real-time, low-cost predictive maintenance framework specifically for tracker mechanisms.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Gap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System 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method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pic>
        <p:nvPicPr>
          <p:cNvPr id="7" name="Image 1" descr="block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10058400" cy="4892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Process Stages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58191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tracker motor operates under normal tracking conditions.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65392" y="158191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current is continuously measured using an ACS712 current sensor.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63347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 signal is conditioned and digitized using an ADC (ADS1115).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263347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is acquired through an ESP32 / STM32 microcontroller.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6850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Current Signature Analysis is performed using FFT / DWT.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36850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Fault-related features — harmonic components, RMS, frequency peaks — are extracted.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47365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classification algorithm determines the motor's health condition.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3504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4A63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65392" y="47365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alerts are generated whenever abnormal conditions are detected.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365760"/>
            <a:ext cx="1280160" cy="128016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5" name="Image 0" descr="icons/method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198" y="672998"/>
            <a:ext cx="665683" cy="665683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/ Software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/ Simulink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processing &amp; simulation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 programming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/ STM32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acquisition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ACS712 Current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current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 ADC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digitization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/ BLDC 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tracker actuator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595360" y="1463040"/>
            <a:ext cx="3108960" cy="4206240"/>
          </a:xfrm>
          <a:prstGeom prst="roundRect">
            <a:avLst>
              <a:gd name="adj" fmla="val 3529"/>
            </a:avLst>
          </a:prstGeom>
          <a:solidFill>
            <a:srgbClr val="F4F7F9"/>
          </a:solidFill>
          <a:ln/>
        </p:spPr>
      </p:sp>
      <p:sp>
        <p:nvSpPr>
          <p:cNvPr id="8" name="Text 4"/>
          <p:cNvSpPr/>
          <p:nvPr/>
        </p:nvSpPr>
        <p:spPr>
          <a:xfrm>
            <a:off x="882396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COMPONENTS?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823960" y="210312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Low-cost: total hardware under ₹10,000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Non-invasive: current sensor only, no vibration/temperature hardware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Edge-capable: ESP32/STM32 process signals in real time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&amp;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5" name="Image 0" descr="icons/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Cost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Development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ACS712 Current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 ADC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/ BLDC 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Tracker Prototype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Estimated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9" name="Image 1" descr="icons/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0372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(6 MONTHS)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309360" y="202082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Shape 7"/>
          <p:cNvSpPr/>
          <p:nvPr/>
        </p:nvSpPr>
        <p:spPr>
          <a:xfrm>
            <a:off x="6391656" y="2221992"/>
            <a:ext cx="36576" cy="566928"/>
          </a:xfrm>
          <a:prstGeom prst="rect">
            <a:avLst/>
          </a:prstGeom>
          <a:solidFill>
            <a:srgbClr val="AFC6D6"/>
          </a:solidFill>
          <a:ln/>
        </p:spPr>
      </p:sp>
      <p:sp>
        <p:nvSpPr>
          <p:cNvPr id="13" name="Text 8"/>
          <p:cNvSpPr/>
          <p:nvPr/>
        </p:nvSpPr>
        <p:spPr>
          <a:xfrm>
            <a:off x="672084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909560" y="18928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Research Paper Review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277977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1"/>
          <p:cNvSpPr/>
          <p:nvPr/>
        </p:nvSpPr>
        <p:spPr>
          <a:xfrm>
            <a:off x="6391656" y="2980944"/>
            <a:ext cx="36576" cy="566928"/>
          </a:xfrm>
          <a:prstGeom prst="rect">
            <a:avLst/>
          </a:prstGeom>
          <a:solidFill>
            <a:srgbClr val="AFC6D6"/>
          </a:solidFill>
          <a:ln/>
        </p:spPr>
      </p:sp>
      <p:sp>
        <p:nvSpPr>
          <p:cNvPr id="17" name="Text 12"/>
          <p:cNvSpPr/>
          <p:nvPr/>
        </p:nvSpPr>
        <p:spPr>
          <a:xfrm>
            <a:off x="6720840" y="26791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09560" y="26517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System Design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53872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Shape 15"/>
          <p:cNvSpPr/>
          <p:nvPr/>
        </p:nvSpPr>
        <p:spPr>
          <a:xfrm>
            <a:off x="6391656" y="3739896"/>
            <a:ext cx="36576" cy="566928"/>
          </a:xfrm>
          <a:prstGeom prst="rect">
            <a:avLst/>
          </a:prstGeom>
          <a:solidFill>
            <a:srgbClr val="AFC6D6"/>
          </a:solidFill>
          <a:ln/>
        </p:spPr>
      </p:sp>
      <p:sp>
        <p:nvSpPr>
          <p:cNvPr id="21" name="Text 16"/>
          <p:cNvSpPr/>
          <p:nvPr/>
        </p:nvSpPr>
        <p:spPr>
          <a:xfrm>
            <a:off x="6720840" y="3438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909560" y="341071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/ Simulink Model Development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429768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Shape 19"/>
          <p:cNvSpPr/>
          <p:nvPr/>
        </p:nvSpPr>
        <p:spPr>
          <a:xfrm>
            <a:off x="6391656" y="4498848"/>
            <a:ext cx="36576" cy="566928"/>
          </a:xfrm>
          <a:prstGeom prst="rect">
            <a:avLst/>
          </a:prstGeom>
          <a:solidFill>
            <a:srgbClr val="AFC6D6"/>
          </a:solidFill>
          <a:ln/>
        </p:spPr>
      </p:sp>
      <p:sp>
        <p:nvSpPr>
          <p:cNvPr id="25" name="Text 20"/>
          <p:cNvSpPr/>
          <p:nvPr/>
        </p:nvSpPr>
        <p:spPr>
          <a:xfrm>
            <a:off x="6720840" y="41970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909560" y="416966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 Implementation &amp; Feature Extraction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505663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Shape 23"/>
          <p:cNvSpPr/>
          <p:nvPr/>
        </p:nvSpPr>
        <p:spPr>
          <a:xfrm>
            <a:off x="6391656" y="5257800"/>
            <a:ext cx="36576" cy="566928"/>
          </a:xfrm>
          <a:prstGeom prst="rect">
            <a:avLst/>
          </a:prstGeom>
          <a:solidFill>
            <a:srgbClr val="AFC6D6"/>
          </a:solidFill>
          <a:ln/>
        </p:spPr>
      </p:sp>
      <p:sp>
        <p:nvSpPr>
          <p:cNvPr id="29" name="Text 24"/>
          <p:cNvSpPr/>
          <p:nvPr/>
        </p:nvSpPr>
        <p:spPr>
          <a:xfrm>
            <a:off x="6720840" y="4956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909560" y="49286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Testing &amp; Performance Analysis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581558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7"/>
          <p:cNvSpPr/>
          <p:nvPr/>
        </p:nvSpPr>
        <p:spPr>
          <a:xfrm>
            <a:off x="6720840" y="5715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909560" y="568756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Software Validation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Timeline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4" name="Shape 2"/>
          <p:cNvSpPr/>
          <p:nvPr/>
        </p:nvSpPr>
        <p:spPr>
          <a:xfrm>
            <a:off x="5257800" y="1965960"/>
            <a:ext cx="1645920" cy="164592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5" name="Image 0" descr="icons/liter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821" y="2360981"/>
            <a:ext cx="855878" cy="855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3840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50876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papers reviewed — base papers, MCSA/ML techniques, and solar PV predictive maintenance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384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  —  Papers 1–4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108960"/>
                <a:gridCol w="466344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for PV Single Axis Tracker Fault Detection and Classification (Base Paper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ML framework (XGBoost Predictor + Classifier) detects and classifies SAT Stall &amp; Timing Mismatch faults with near-zero false positives.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only software/tracking faults, not motor-level mechanical wear.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Autoregressive-Based MCSA Approach for Fault Diagnosis of Electric Motor-Driven Mechanisms (Base Paper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wavelet transform with autoregressive spectral estimation; defines a SISSD health indicator for motor-driven mechanism fault diagnosis.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severity isolation was unreliable in several test configurations.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Monitoring of Bearing Damage — A Benchmark Data Set for Data-Driven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a widely-used, labeled benchmark dataset of motor current signals for bearing-fault classification research.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from constant-speed industrial motors, not intermittent tracker operation.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Current Signature Analysis for Fault Detection of Induction Machine — A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Consolidates time- and frequency-domain MCSA techniques for induction machine fault interpretation.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a review with no experimental validation.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384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  —  Papers 5–8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108960"/>
                <a:gridCol w="466344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Deep Autoencoder-Based CNN Framework for Bearing Fault Classification in Induction Motors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Semi-supervised DAE + 1-D CNN pipeline achieves bearing-fault classification accuracy exceeding 99%.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heavy, not optimized for low-power edge devices.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CNN-Based Bearing Fault Diagnosis Using Multi-Phase Motor Current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Multi-phase CNN (MI-CNN) achieves ~95.12% accuracy on noisy current signals at 20 dB SNR.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multi-phase current access, unavailable on many tracker motors.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MCSA-Based Fault Detection Under Varying Operating Conditions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Beamforming-based spectral estimation robustly detects faults under varying load and noisy conditions.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on only a single fault type (minor eccentricity).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Induction Motor Bearing Fault Classification Using DNN with PSO-XGBoost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statistical + deep-learning features with PSO-optimized XGBoost improve classification accuracy.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hybrid pipeline relying on vibration-based benchmark comparisons.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384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  —  Papers 9–11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108960"/>
                <a:gridCol w="466344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Motor Current Signal Based Bearing Fault Diagnosis Using Deep Learning and Information 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Fuses motor current with drive DC current using deep learning for improved fault detection confidence.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extra drive-level DC current sensing, increasing cost.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Faults, Failures, Reliability, and Predictive Maintenance of Grid-Connected Solar Systems: A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PV fault taxonomy and shows AI/ML/IoT approaches enhance predictive diagnostics over reactive methods.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PV review; no focus on tracker motors specifically.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Predictive Maintenance of Solar Photovoltaic Systems: A Comprehensive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review of 40 papers on ML/DL-based PV predictive maintenance, evaluated via standard metrics.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A3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panel/inverter-level maintenance, not tracker motor health.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(Expected Outcomes)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fin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9164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9293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174650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motor faults during the early stages.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169164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9293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199632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0" y="174650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reliability of solar tracking systems.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6974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" y="29352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7280" y="275234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unexpected tracker failures.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35040" y="26974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99632" y="29352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6199632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75120" y="275234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maintenance cost through condition-based maintenance.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370332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21792" y="39410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97280" y="375818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operational efficiency of photovoltaic plants.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035040" y="370332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28" name="Shape 25"/>
          <p:cNvSpPr/>
          <p:nvPr/>
        </p:nvSpPr>
        <p:spPr>
          <a:xfrm>
            <a:off x="6199632" y="39410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9" name="Text 26"/>
          <p:cNvSpPr/>
          <p:nvPr/>
        </p:nvSpPr>
        <p:spPr>
          <a:xfrm>
            <a:off x="6199632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675120" y="375818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energy generation by maintaining accurate panel tracking.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57200" y="470916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F4F7F9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9469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" y="4946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097280" y="476402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practical, low-cost predictive maintenance solution.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discu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TECHNIQUE COMPARISON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43891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simple frequency-domain view of steady current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with non-stationary / transient 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both time and frequency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computation, filter/level selection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(RMS, peaks); easy to compute on edge devices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sensitive to subtle, early-stage faults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MCSA OVER VIBRATION / TEMPERATURE SENSING?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motor's own current — no extra vibration or temperature hardware needed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and simpler installation than multi-sensor condition monitoring rigs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project's low-cost, real-time, edge-deployable design goals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4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828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57200"/>
            <a:ext cx="1554480" cy="1554480"/>
          </a:xfrm>
          <a:prstGeom prst="ellipse">
            <a:avLst/>
          </a:prstGeom>
          <a:solidFill>
            <a:srgbClr val="2C4A63"/>
          </a:solidFill>
          <a:ln/>
        </p:spPr>
      </p:sp>
      <p:pic>
        <p:nvPicPr>
          <p:cNvPr id="6" name="Image 0" descr="icons/ref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830275"/>
            <a:ext cx="808330" cy="8083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91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691640"/>
            <a:ext cx="3566160" cy="502920"/>
          </a:xfrm>
          <a:prstGeom prst="rect">
            <a:avLst/>
          </a:prstGeom>
          <a:solidFill>
            <a:srgbClr val="2C4A6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91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37744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setup using a single current sensor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vibration/temperature hardware required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edge-deployable microcontroller pipeline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691640"/>
            <a:ext cx="3566160" cy="502920"/>
          </a:xfrm>
          <a:prstGeom prst="rect">
            <a:avLst/>
          </a:prstGeom>
          <a:solidFill>
            <a:srgbClr val="2C4A63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1691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80560" y="237744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clean, representative fault data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noise from real-world current signals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Emulating realistic fault conditions safely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16916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0" y="1691640"/>
            <a:ext cx="3566160" cy="502920"/>
          </a:xfrm>
          <a:prstGeom prst="rect">
            <a:avLst/>
          </a:prstGeom>
          <a:solidFill>
            <a:srgbClr val="2C4A63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0" y="1691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IMPROVE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75320" y="237744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more fault types and severities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real-world / field testing duration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more signal processing techniques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0" y="6473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MCSA-Based Predictive Maintenance for Solar Trackers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non-invasive MCSA-based predictive maintenance system is proposed for solar tracker motors.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captures motor current, processes it (FFT/DWT), and extracts features to detect faults early.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reduce downtime, cut maintenance costs, and improve solar plant reliability and energy yield.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field deployment on live trackers and integration with SCADA/IoT monitoring dashboards.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577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2026-07-20T01:34:33Z</dcterms:created>
  <dcterms:modified xsi:type="dcterms:W3CDTF">2026-07-20T01:34:33Z</dcterms:modified>
</cp:coreProperties>
</file>